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6bf1ed38-b1b1-8800-bba0-732a060f362a}">
          <p14:sldIdLst>
            <p14:sldId id="256"/>
            <p14:sldId id="257"/>
          </p14:sldIdLst>
        </p14:section>
        <p14:section name="Solution" id="{56d807e3-c5c7-2bd7-0a30-000457877cc7}">
          <p14:sldIdLst>
            <p14:sldId id="258"/>
            <p14:sldId id="259"/>
            <p14:sldId id="260"/>
          </p14:sldIdLst>
        </p14:section>
        <p14:section name="Evidence" id="{3ec68942-4c47-73b9-d553-fea2c76c1ef0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Invoices wrongly auto-approved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Wrongly auto-approved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 2-way match</c:v>
                  </c:pt>
                  <c:pt idx="1">
                    <c:v>InvoiceGuard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[0:00-0:20] Hello. InvoiceGuard is a multi-agent system that decides what to do with supplier invoices that fail a 3-way match. Everything you will see uses synthetic data and simulated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[0:20-0:55] AP clerks match invoice, PO and goods receipt. Exceptions are slow and inconsistent. On our synthetic data a total-only rule wrongly auto-approved 30 of the 53 invoices it approved. The $2.8B figure is FBI IC3's 2024 reported BEC loss, which is why bank-detail changes are a core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[0:55-1:30] Today: total-only match, then a human does the investigation. InvoiceGuard plans which checks apply, retrieves records and policy, runs exact calculations, decides, and has an independent Critic verify before anything happens. Five possible outcomes; only clean invoices below the limit auto-approve.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[1:30-2:10] The orchestrator owns shared state. Planner builds the plan, Research fetches records and cites policy, Executor runs exact tools, Resolution applies priority rules, and the Critic re-derives everything from raw data. Three exits at the bottom: auto-approve, human queue, or escalate with payment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[2:10-2:40] Distinct responsibilities, no duplicates. The only place text is generated is an optional local-LLM rephrase; it never touches numbers or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[2:40-4:00] SWITCH TO THE APP. Process tab. (1) Pick the duplicate case: open Plan, Tool calls, Evidence (clause AP-5), Critic (8 green checks). (2) Pick 'Billed more than received': show the match table and payable. (3) Fault injection: Transient, then Persistent on the duplicate. End with the human-review button. Fallback: docs/test_matrix.md shows the same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[4:00-4:40] 56 tests and a 19-scenario matrix all pass. Against the baseline, 30 wrong auto-approvals versus 0. Fault injection: every effective fault was detected. Caveat: labels come from my generator, so this proves the logic is consistent, not that it would score 100% on real invoices.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[4:40-5:00] Limitations are honest: synthetic data and simplified rules. Next steps would be OCR and real ERP integration. Takeaway: independent validation plus human approval. Thank you;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InvoiceGuard · synthetic data · all actions simulated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InvoiceGuard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Agentic AI for Accounts-Payable exception resolution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Domain: Finance operations  ·  CA-3 Agentic AI PoC  ·  SIT Pune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Presented by Kavan  ·  Python + Streamlit  ·  synthetic data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Mismatched invoices are costly, and a total-only check misses most of the reasons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Companies pay only after matching invoice, purchase order and goods receipt.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Exceptions are diagnosed by hand: open PO, GRN, vendor, history and policy, then email the vendor.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Hard cases: duplicates with a re-formatted number, goods not received, wrong GST, and changed bank details (a fraud pattern).</a:t>
            </a:r>
            <a:endParaRPr lang="en-US" sz="1500" dirty="0"/>
          </a:p>
        </p:txBody>
      </p:sp>
      <p:sp>
        <p:nvSpPr>
          <p:cNvPr id="4" name="card 30 of 53"/>
          <p:cNvSpPr/>
          <p:nvPr/>
        </p:nvSpPr>
        <p:spPr>
          <a:xfrm>
            <a:off x="4937760" y="1234440"/>
            <a:ext cx="3749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74920" y="1325880"/>
            <a:ext cx="34747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30 of 53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181279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invoices wrongly auto-approved by a naive 2-way match (measured on our synthetic set)</a:t>
            </a:r>
            <a:endParaRPr lang="en-US" sz="1100" dirty="0"/>
          </a:p>
        </p:txBody>
      </p:sp>
      <p:sp>
        <p:nvSpPr>
          <p:cNvPr id="7" name="card ≈ $2.8 B"/>
          <p:cNvSpPr/>
          <p:nvPr/>
        </p:nvSpPr>
        <p:spPr>
          <a:xfrm>
            <a:off x="4937760" y="2423160"/>
            <a:ext cx="3749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74920" y="2514600"/>
            <a:ext cx="347472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≈ $2.8 B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300151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business-email-compromise losses reported to FBI IC3 in 2024 (source: Nacha summary)</a:t>
            </a:r>
            <a:endParaRPr lang="en-US" sz="1100" dirty="0"/>
          </a:p>
        </p:txBody>
      </p:sp>
      <p:sp>
        <p:nvSpPr>
          <p:cNvPr id="10" name="card 13"/>
          <p:cNvSpPr/>
          <p:nvPr/>
        </p:nvSpPr>
        <p:spPr>
          <a:xfrm>
            <a:off x="4937760" y="3611880"/>
            <a:ext cx="37490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3703320"/>
            <a:ext cx="34747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413994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synthetic anomaly types with known correct outcomes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From manual exception queues to a planned, checked and auditable workflow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TODAY</a:t>
            </a:r>
            <a:endParaRPr lang="en-US" sz="1200" dirty="0"/>
          </a:p>
        </p:txBody>
      </p:sp>
      <p:sp>
        <p:nvSpPr>
          <p:cNvPr id="4" name="box Invoice arrives"/>
          <p:cNvSpPr/>
          <p:nvPr/>
        </p:nvSpPr>
        <p:spPr>
          <a:xfrm>
            <a:off x="457200" y="150876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Invoice arrives</a:t>
            </a:r>
            <a:endParaRPr lang="en-US" sz="1200" dirty="0"/>
          </a:p>
        </p:txBody>
      </p:sp>
      <p:sp>
        <p:nvSpPr>
          <p:cNvPr id="5" name="box Total-only match"/>
          <p:cNvSpPr/>
          <p:nvPr/>
        </p:nvSpPr>
        <p:spPr>
          <a:xfrm>
            <a:off x="2121408" y="150876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Total-only match</a:t>
            </a:r>
            <a:endParaRPr lang="en-US" sz="1200" dirty="0"/>
          </a:p>
        </p:txBody>
      </p:sp>
      <p:sp>
        <p:nvSpPr>
          <p:cNvPr id="6" name="box Manual queue"/>
          <p:cNvSpPr/>
          <p:nvPr/>
        </p:nvSpPr>
        <p:spPr>
          <a:xfrm>
            <a:off x="3785616" y="150876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Manual queue</a:t>
            </a:r>
            <a:endParaRPr lang="en-US" sz="1200" dirty="0"/>
          </a:p>
        </p:txBody>
      </p:sp>
      <p:sp>
        <p:nvSpPr>
          <p:cNvPr id="7" name="box Clerk investigates"/>
          <p:cNvSpPr/>
          <p:nvPr/>
        </p:nvSpPr>
        <p:spPr>
          <a:xfrm>
            <a:off x="5449824" y="150876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Clerk investigates</a:t>
            </a:r>
            <a:endParaRPr lang="en-US" sz="1200" dirty="0"/>
          </a:p>
        </p:txBody>
      </p:sp>
      <p:sp>
        <p:nvSpPr>
          <p:cNvPr id="8" name="box Email vendor"/>
          <p:cNvSpPr/>
          <p:nvPr/>
        </p:nvSpPr>
        <p:spPr>
          <a:xfrm>
            <a:off x="7114032" y="150876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Email vendor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INVOICEGUARD</a:t>
            </a:r>
            <a:endParaRPr lang="en-US" sz="1200" dirty="0"/>
          </a:p>
        </p:txBody>
      </p:sp>
      <p:sp>
        <p:nvSpPr>
          <p:cNvPr id="10" name="box Plan"/>
          <p:cNvSpPr/>
          <p:nvPr/>
        </p:nvSpPr>
        <p:spPr>
          <a:xfrm>
            <a:off x="457200" y="2834640"/>
            <a:ext cx="12344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11" name="box Research"/>
          <p:cNvSpPr/>
          <p:nvPr/>
        </p:nvSpPr>
        <p:spPr>
          <a:xfrm>
            <a:off x="1847088" y="2834640"/>
            <a:ext cx="12344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Research</a:t>
            </a:r>
            <a:endParaRPr lang="en-US" sz="1200" dirty="0"/>
          </a:p>
        </p:txBody>
      </p:sp>
      <p:sp>
        <p:nvSpPr>
          <p:cNvPr id="12" name="box Execute tools"/>
          <p:cNvSpPr/>
          <p:nvPr/>
        </p:nvSpPr>
        <p:spPr>
          <a:xfrm>
            <a:off x="3236976" y="2834640"/>
            <a:ext cx="12344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Execute tools</a:t>
            </a:r>
            <a:endParaRPr lang="en-US" sz="1200" dirty="0"/>
          </a:p>
        </p:txBody>
      </p:sp>
      <p:sp>
        <p:nvSpPr>
          <p:cNvPr id="13" name="box Decide"/>
          <p:cNvSpPr/>
          <p:nvPr/>
        </p:nvSpPr>
        <p:spPr>
          <a:xfrm>
            <a:off x="4626864" y="2834640"/>
            <a:ext cx="12344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Decide</a:t>
            </a:r>
            <a:endParaRPr lang="en-US" sz="1200" dirty="0"/>
          </a:p>
        </p:txBody>
      </p:sp>
      <p:sp>
        <p:nvSpPr>
          <p:cNvPr id="14" name="box Critic check"/>
          <p:cNvSpPr/>
          <p:nvPr/>
        </p:nvSpPr>
        <p:spPr>
          <a:xfrm>
            <a:off x="6016752" y="2834640"/>
            <a:ext cx="12344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Critic check</a:t>
            </a:r>
            <a:endParaRPr lang="en-US" sz="1200" dirty="0"/>
          </a:p>
        </p:txBody>
      </p:sp>
      <p:sp>
        <p:nvSpPr>
          <p:cNvPr id="15" name="box Auto / human"/>
          <p:cNvSpPr/>
          <p:nvPr/>
        </p:nvSpPr>
        <p:spPr>
          <a:xfrm>
            <a:off x="7406640" y="2834640"/>
            <a:ext cx="12344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Auto / human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Five outcomes: APPROVE · PAY_PARTIAL · HOLD · REJECT · ESCALATE. Failed validation retries once, then blocks payment and escalates. Humans approve every non-clean case.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Agent architecture: five agents coordinated by one orchestrator</a:t>
            </a:r>
            <a:endParaRPr lang="en-US" sz="2400" dirty="0"/>
          </a:p>
        </p:txBody>
      </p:sp>
      <p:sp>
        <p:nvSpPr>
          <p:cNvPr id="3" name="box Streamlit UI"/>
          <p:cNvSpPr/>
          <p:nvPr/>
        </p:nvSpPr>
        <p:spPr>
          <a:xfrm>
            <a:off x="457200" y="1143000"/>
            <a:ext cx="155448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Streamlit UI</a:t>
            </a:r>
            <a:endParaRPr lang="en-US" sz="1200" dirty="0"/>
          </a:p>
        </p:txBody>
      </p:sp>
      <p:sp>
        <p:nvSpPr>
          <p:cNvPr id="4" name="box Orchestrator · sha"/>
          <p:cNvSpPr/>
          <p:nvPr/>
        </p:nvSpPr>
        <p:spPr>
          <a:xfrm>
            <a:off x="2377440" y="1143000"/>
            <a:ext cx="438912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Orchestrator · shared CaseState · retry ≤ 2 · audit log</a:t>
            </a:r>
            <a:endParaRPr lang="en-US" sz="1200" dirty="0"/>
          </a:p>
        </p:txBody>
      </p:sp>
      <p:sp>
        <p:nvSpPr>
          <p:cNvPr id="5" name="box Human reviewer"/>
          <p:cNvSpPr/>
          <p:nvPr/>
        </p:nvSpPr>
        <p:spPr>
          <a:xfrm>
            <a:off x="7132320" y="1143000"/>
            <a:ext cx="155448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Human reviewer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2011680" y="1389888"/>
            <a:ext cx="3657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arrow"/>
          <p:cNvSpPr/>
          <p:nvPr/>
        </p:nvSpPr>
        <p:spPr>
          <a:xfrm>
            <a:off x="7132320" y="1389888"/>
            <a:ext cx="-3657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us"/>
          <p:cNvSpPr/>
          <p:nvPr/>
        </p:nvSpPr>
        <p:spPr>
          <a:xfrm>
            <a:off x="1188720" y="1874520"/>
            <a:ext cx="67665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arrow"/>
          <p:cNvSpPr/>
          <p:nvPr/>
        </p:nvSpPr>
        <p:spPr>
          <a:xfrm>
            <a:off x="4572000" y="164592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arrow"/>
          <p:cNvSpPr/>
          <p:nvPr/>
        </p:nvSpPr>
        <p:spPr>
          <a:xfrm>
            <a:off x="1188720" y="187452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box Planner"/>
          <p:cNvSpPr/>
          <p:nvPr/>
        </p:nvSpPr>
        <p:spPr>
          <a:xfrm>
            <a:off x="457200" y="2103120"/>
            <a:ext cx="1481328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Planner</a:t>
            </a:r>
            <a:endParaRPr lang="en-US" sz="1300" dirty="0"/>
          </a:p>
        </p:txBody>
      </p:sp>
      <p:sp>
        <p:nvSpPr>
          <p:cNvPr id="12" name="box task plan with dep"/>
          <p:cNvSpPr/>
          <p:nvPr/>
        </p:nvSpPr>
        <p:spPr>
          <a:xfrm>
            <a:off x="457200" y="2697480"/>
            <a:ext cx="1481328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task plan with dependencies</a:t>
            </a:r>
            <a:endParaRPr lang="en-US" sz="1050" dirty="0"/>
          </a:p>
        </p:txBody>
      </p:sp>
      <p:sp>
        <p:nvSpPr>
          <p:cNvPr id="13" name="arrow"/>
          <p:cNvSpPr/>
          <p:nvPr/>
        </p:nvSpPr>
        <p:spPr>
          <a:xfrm>
            <a:off x="2852928" y="187452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box Research"/>
          <p:cNvSpPr/>
          <p:nvPr/>
        </p:nvSpPr>
        <p:spPr>
          <a:xfrm>
            <a:off x="2121408" y="2103120"/>
            <a:ext cx="1481328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Research</a:t>
            </a:r>
            <a:endParaRPr lang="en-US" sz="1300" dirty="0"/>
          </a:p>
        </p:txBody>
      </p:sp>
      <p:sp>
        <p:nvSpPr>
          <p:cNvPr id="15" name="box records + policy c"/>
          <p:cNvSpPr/>
          <p:nvPr/>
        </p:nvSpPr>
        <p:spPr>
          <a:xfrm>
            <a:off x="2121408" y="2697480"/>
            <a:ext cx="1481328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records + policy clause retrieval</a:t>
            </a:r>
            <a:endParaRPr lang="en-US" sz="1050" dirty="0"/>
          </a:p>
        </p:txBody>
      </p:sp>
      <p:sp>
        <p:nvSpPr>
          <p:cNvPr id="16" name="arrow"/>
          <p:cNvSpPr/>
          <p:nvPr/>
        </p:nvSpPr>
        <p:spPr>
          <a:xfrm>
            <a:off x="4517136" y="187452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box Executor"/>
          <p:cNvSpPr/>
          <p:nvPr/>
        </p:nvSpPr>
        <p:spPr>
          <a:xfrm>
            <a:off x="3785616" y="2103120"/>
            <a:ext cx="1481328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Executor</a:t>
            </a:r>
            <a:endParaRPr lang="en-US" sz="1300" dirty="0"/>
          </a:p>
        </p:txBody>
      </p:sp>
      <p:sp>
        <p:nvSpPr>
          <p:cNvPr id="18" name="box 6 deterministic to"/>
          <p:cNvSpPr/>
          <p:nvPr/>
        </p:nvSpPr>
        <p:spPr>
          <a:xfrm>
            <a:off x="3785616" y="2697480"/>
            <a:ext cx="1481328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6 deterministic tools (Decimal)</a:t>
            </a:r>
            <a:endParaRPr lang="en-US" sz="1050" dirty="0"/>
          </a:p>
        </p:txBody>
      </p:sp>
      <p:sp>
        <p:nvSpPr>
          <p:cNvPr id="19" name="arrow"/>
          <p:cNvSpPr/>
          <p:nvPr/>
        </p:nvSpPr>
        <p:spPr>
          <a:xfrm>
            <a:off x="6181344" y="187452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box Resolution"/>
          <p:cNvSpPr/>
          <p:nvPr/>
        </p:nvSpPr>
        <p:spPr>
          <a:xfrm>
            <a:off x="5449824" y="2103120"/>
            <a:ext cx="1481328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Resolution</a:t>
            </a:r>
            <a:endParaRPr lang="en-US" sz="1300" dirty="0"/>
          </a:p>
        </p:txBody>
      </p:sp>
      <p:sp>
        <p:nvSpPr>
          <p:cNvPr id="21" name="box priority rules + d"/>
          <p:cNvSpPr/>
          <p:nvPr/>
        </p:nvSpPr>
        <p:spPr>
          <a:xfrm>
            <a:off x="5449824" y="2697480"/>
            <a:ext cx="1481328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priority rules + decision</a:t>
            </a:r>
            <a:endParaRPr lang="en-US" sz="1050" dirty="0"/>
          </a:p>
        </p:txBody>
      </p:sp>
      <p:sp>
        <p:nvSpPr>
          <p:cNvPr id="22" name="arrow"/>
          <p:cNvSpPr/>
          <p:nvPr/>
        </p:nvSpPr>
        <p:spPr>
          <a:xfrm>
            <a:off x="7845552" y="187452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Critic"/>
          <p:cNvSpPr/>
          <p:nvPr/>
        </p:nvSpPr>
        <p:spPr>
          <a:xfrm>
            <a:off x="7114032" y="2103120"/>
            <a:ext cx="1481328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Critic</a:t>
            </a:r>
            <a:endParaRPr lang="en-US" sz="1300" dirty="0"/>
          </a:p>
        </p:txBody>
      </p:sp>
      <p:sp>
        <p:nvSpPr>
          <p:cNvPr id="24" name="box 8 checks from raw "/>
          <p:cNvSpPr/>
          <p:nvPr/>
        </p:nvSpPr>
        <p:spPr>
          <a:xfrm>
            <a:off x="7114032" y="2697480"/>
            <a:ext cx="1481328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8 checks from raw data (fractions)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Data: synthetic vendors · POs · goods receipts · invoice history · policy.json (9 clauses)</a:t>
            </a:r>
            <a:endParaRPr lang="en-US" sz="1100" dirty="0"/>
          </a:p>
        </p:txBody>
      </p:sp>
      <p:sp>
        <p:nvSpPr>
          <p:cNvPr id="26" name="box Critic PASS + clea"/>
          <p:cNvSpPr/>
          <p:nvPr/>
        </p:nvSpPr>
        <p:spPr>
          <a:xfrm>
            <a:off x="457200" y="3931920"/>
            <a:ext cx="2560320" cy="54864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Critic PASS + clean: auto-approve (simulated)</a:t>
            </a:r>
            <a:endParaRPr lang="en-US" sz="1100" dirty="0"/>
          </a:p>
        </p:txBody>
      </p:sp>
      <p:sp>
        <p:nvSpPr>
          <p:cNvPr id="27" name="box Critic PASS + exce"/>
          <p:cNvSpPr/>
          <p:nvPr/>
        </p:nvSpPr>
        <p:spPr>
          <a:xfrm>
            <a:off x="3291840" y="3931920"/>
            <a:ext cx="256032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Critic PASS + exception: human queue</a:t>
            </a:r>
            <a:endParaRPr lang="en-US" sz="1100" dirty="0"/>
          </a:p>
        </p:txBody>
      </p:sp>
      <p:sp>
        <p:nvSpPr>
          <p:cNvPr id="28" name="box Critic FAIL twice:"/>
          <p:cNvSpPr/>
          <p:nvPr/>
        </p:nvSpPr>
        <p:spPr>
          <a:xfrm>
            <a:off x="6126480" y="3931920"/>
            <a:ext cx="2560320" cy="54864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Critic FAIL twice: escalate, payable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Each agent has a distinct job; decisions use rules, not an LLM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9496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Agent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Responsibility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Logic 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Planner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Builds task plan; shortens it for invalid invoices; picks 3-way match or missing-PO flag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rules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Fetches vendor, PO, GRN, history; retrieves the policy clause behind each finding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retrieval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Executor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Validation, duplicate, bank, GST, 3-way match, payable amount; logs every tool 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Python (Decimal)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Resolution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Maps findings to one decision by priority; bank change outranks over-billing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rules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Critic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Independent re-derivation; blocks wrong decisions, amounts or skipped controls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independent code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Orchestrator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Shared state, retry up to 2, escalation, routing, audit log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control logic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Live demo (about 80 seconds): the same app, three cases</a:t>
            </a:r>
            <a:endParaRPr lang="en-US" sz="2400" dirty="0"/>
          </a:p>
        </p:txBody>
      </p:sp>
      <p:sp>
        <p:nvSpPr>
          <p:cNvPr id="3" name="step 1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Duplicate invoice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234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Number re-formatted as 'aos 12345'. Tool call matches it; clause AP-5 cited; REJECT.</a:t>
            </a:r>
            <a:endParaRPr lang="en-US" sz="1300" dirty="0"/>
          </a:p>
        </p:txBody>
      </p:sp>
      <p:sp>
        <p:nvSpPr>
          <p:cNvPr id="7" name="step 2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Billed more than received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3-way match table; PAY_PARTIAL with exact payable and amount not paid.</a:t>
            </a:r>
            <a:endParaRPr lang="en-US" sz="1300" dirty="0"/>
          </a:p>
        </p:txBody>
      </p:sp>
      <p:sp>
        <p:nvSpPr>
          <p:cNvPr id="11" name="step 3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337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Fault injection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337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Transient: Critic fails attempt 1, fixed on retry. Persistent: escalated, payable 0.00.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Then: human review tab (accept / reject / request info / escalate, all simulated) and the Evaluation tab.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Measured results on 63 synthetic invoices (seed 42)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56 / 56"/>
          <p:cNvSpPr/>
          <p:nvPr/>
        </p:nvSpPr>
        <p:spPr>
          <a:xfrm>
            <a:off x="4754880" y="114300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892040" y="1234440"/>
            <a:ext cx="1600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56 / 56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892040" y="16962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automated tests passed</a:t>
            </a:r>
            <a:endParaRPr lang="en-US" sz="1100" dirty="0"/>
          </a:p>
        </p:txBody>
      </p:sp>
      <p:sp>
        <p:nvSpPr>
          <p:cNvPr id="7" name="card 19 / 19"/>
          <p:cNvSpPr/>
          <p:nvPr/>
        </p:nvSpPr>
        <p:spPr>
          <a:xfrm>
            <a:off x="6812280" y="114300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0" y="1234440"/>
            <a:ext cx="1600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19 / 19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16962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test-matrix scenarios</a:t>
            </a:r>
            <a:endParaRPr lang="en-US" sz="1100" dirty="0"/>
          </a:p>
        </p:txBody>
      </p:sp>
      <p:sp>
        <p:nvSpPr>
          <p:cNvPr id="10" name="card 63 / 63"/>
          <p:cNvSpPr/>
          <p:nvPr/>
        </p:nvSpPr>
        <p:spPr>
          <a:xfrm>
            <a:off x="4754880" y="228600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2377440"/>
            <a:ext cx="1600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63 / 63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28392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decisions and payable amounts match labels</a:t>
            </a:r>
            <a:endParaRPr lang="en-US" sz="1100" dirty="0"/>
          </a:p>
        </p:txBody>
      </p:sp>
      <p:sp>
        <p:nvSpPr>
          <p:cNvPr id="13" name="card 0"/>
          <p:cNvSpPr/>
          <p:nvPr/>
        </p:nvSpPr>
        <p:spPr>
          <a:xfrm>
            <a:off x="6812280" y="228600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2377440"/>
            <a:ext cx="1600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28392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payments released under persistent fault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34290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Injected faults: 63/63 caught (transient, all fixed on retry); 40/40 caught (persistent, all escalated). Labels come from our own generator, so this shows consistency, not real-world accuracy.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Limitations, future scope and conclusion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Synthetic data, simplified policy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OCR, ERP or bank integration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Critic shares policy parameters with Executor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Single currency, in-session review log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Future scope (not built)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08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Invoice PDF ingestion (OCR)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LangGraph orchestration, MCP ERP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Learn thresholds from clerk overrides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Authentication and role-based approval</a:t>
            </a:r>
            <a:endParaRPr lang="en-US" sz="1300" dirty="0"/>
          </a:p>
        </p:txBody>
      </p:sp>
      <p:sp>
        <p:nvSpPr>
          <p:cNvPr id="7" name="conclusion band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566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 independent Critic, bounded retries and human approval turn plain automation into a workflow you can trust with money-related decisions.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oiceGuard">
  <a:themeElements>
    <a:clrScheme name="InvoiceGuard">
      <a:dk1>
        <a:srgbClr val="111827"/>
      </a:dk1>
      <a:lt1>
        <a:srgbClr val="FFFFFF"/>
      </a:lt1>
      <a:dk2>
        <a:srgbClr val="1E3A5F"/>
      </a:dk2>
      <a:lt2>
        <a:srgbClr val="EEF3F8"/>
      </a:lt2>
      <a:accent1>
        <a:srgbClr val="0F766E"/>
      </a:accent1>
      <a:accent2>
        <a:srgbClr val="2563EB"/>
      </a:accent2>
      <a:accent3>
        <a:srgbClr val="B45309"/>
      </a:accent3>
      <a:accent4>
        <a:srgbClr val="B91C1C"/>
      </a:accent4>
      <a:accent5>
        <a:srgbClr val="6D28D9"/>
      </a:accent5>
      <a:accent6>
        <a:srgbClr val="15803D"/>
      </a:accent6>
      <a:hlink>
        <a:srgbClr val="2563EB"/>
      </a:hlink>
      <a:folHlink>
        <a:srgbClr val="6D28D9"/>
      </a:folHlink>
    </a:clrScheme>
    <a:fontScheme name="InvoiceGu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InvoiceGuard - CA-3 Agentic AI PoC</dc:title>
  <dc:subject>PptxGenJS Presentation</dc:subject>
  <dc:creator>Kavan</dc:creator>
  <cp:lastModifiedBy>Kavan</cp:lastModifiedBy>
  <cp:revision>1</cp:revision>
  <dcterms:created xsi:type="dcterms:W3CDTF">2026-10-10T09:50:05Z</dcterms:created>
  <dcterms:modified xsi:type="dcterms:W3CDTF">2026-10-10T09:50:05Z</dcterms:modified>
</cp:coreProperties>
</file>